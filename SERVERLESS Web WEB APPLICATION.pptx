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85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58" r:id="rId7"/>
    <p:sldId id="260" r:id="rId8"/>
    <p:sldId id="261" r:id="rId9"/>
    <p:sldId id="263" r:id="rId10"/>
    <p:sldId id="262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8" autoAdjust="0"/>
  </p:normalViewPr>
  <p:slideViewPr>
    <p:cSldViewPr snapToGrid="0">
      <p:cViewPr varScale="1">
        <p:scale>
          <a:sx n="70" d="100"/>
          <a:sy n="70" d="100"/>
        </p:scale>
        <p:origin x="116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/>
              <a:t>04-Mar-26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2326A-4C88-4AFB-AA5B-5919D81DFF5B}" type="datetimeFigureOut">
              <a:rPr lang="en-US" smtClean="0"/>
              <a:t>04-Mar-26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3AB32-59DF-41F1-9618-EDFBF50496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04-Mar-26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2955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04-Mar-26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005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04-Mar-26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4382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04-Mar-26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719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04-Mar-26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009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04-Mar-26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6034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04-Mar-26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884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04-Mar-26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268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B61BEF0D-F0BB-DE4B-95CE-6DB70DBA9567}" type="datetimeFigureOut">
              <a:rPr lang="en-US" smtClean="0"/>
              <a:pPr/>
              <a:t>04-Mar-26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3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04-Mar-26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990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04-Mar-26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642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04-Mar-26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714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B815E-A6AB-AF14-7D45-A76D5AECF0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284514"/>
            <a:ext cx="12191999" cy="2351316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b="1" dirty="0"/>
              <a:t>SERVERLESS Web</a:t>
            </a:r>
            <a:r>
              <a:rPr lang="en-US" b="1" dirty="0">
                <a:ea typeface="Calibri" panose="020F0502020204030204" pitchFamily="34" charset="0"/>
                <a:cs typeface="Calibri" panose="020F0502020204030204" pitchFamily="34" charset="0"/>
              </a:rPr>
              <a:t> APPLICATION </a:t>
            </a:r>
            <a:br>
              <a:rPr lang="en-US" b="1" dirty="0"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ea typeface="Calibri" panose="020F0502020204030204" pitchFamily="34" charset="0"/>
                <a:cs typeface="Calibri" panose="020F0502020204030204" pitchFamily="34" charset="0"/>
              </a:rPr>
              <a:t>WITH </a:t>
            </a:r>
            <a:br>
              <a:rPr lang="en-US" b="1" dirty="0"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ea typeface="Calibri" panose="020F0502020204030204" pitchFamily="34" charset="0"/>
                <a:cs typeface="Calibri" panose="020F0502020204030204" pitchFamily="34" charset="0"/>
              </a:rPr>
              <a:t>LAMBDA, APIGATEWAY AND DYNAMODB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2A4B45-6D8A-27AB-33FA-D5B04D4CD6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11344" y="5378753"/>
            <a:ext cx="2819400" cy="103293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BY</a:t>
            </a:r>
          </a:p>
          <a:p>
            <a:r>
              <a:rPr lang="en-US" b="1" dirty="0">
                <a:solidFill>
                  <a:schemeClr val="bg1"/>
                </a:solidFill>
              </a:rPr>
              <a:t>MANJUABHINAYA VR</a:t>
            </a:r>
          </a:p>
        </p:txBody>
      </p:sp>
    </p:spTree>
    <p:extLst>
      <p:ext uri="{BB962C8B-B14F-4D97-AF65-F5344CB8AC3E}">
        <p14:creationId xmlns:p14="http://schemas.microsoft.com/office/powerpoint/2010/main" val="1370326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9DFDC-D86E-13F5-B6BC-6EB7E3770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0869" y="151192"/>
            <a:ext cx="8534400" cy="806752"/>
          </a:xfr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4E785-9408-A119-7E8F-6276BBBDE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564" y="1674888"/>
            <a:ext cx="11870872" cy="1754112"/>
          </a:xfr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dirty="0"/>
              <a:t>This project demonstrates how to design and implement a </a:t>
            </a:r>
            <a:r>
              <a:rPr lang="en-US" b="1" dirty="0"/>
              <a:t>serverless web application</a:t>
            </a:r>
            <a:r>
              <a:rPr lang="en-US" dirty="0"/>
              <a:t> using </a:t>
            </a:r>
            <a:r>
              <a:rPr lang="en-US" b="1" dirty="0"/>
              <a:t>AWS Lambda</a:t>
            </a:r>
            <a:r>
              <a:rPr lang="en-US" dirty="0"/>
              <a:t>, </a:t>
            </a:r>
            <a:r>
              <a:rPr lang="en-US" b="1" dirty="0"/>
              <a:t>API Gateway</a:t>
            </a:r>
            <a:r>
              <a:rPr lang="en-US" dirty="0"/>
              <a:t>, and </a:t>
            </a:r>
            <a:r>
              <a:rPr lang="en-US" b="1" dirty="0"/>
              <a:t>DynamoDB</a:t>
            </a:r>
            <a:r>
              <a:rPr lang="en-US" dirty="0"/>
              <a:t> — three core services that eliminate the need to manage servers, automatically scale with demand, and reduce operational costs.</a:t>
            </a:r>
          </a:p>
          <a:p>
            <a:r>
              <a:rPr lang="en-US" dirty="0"/>
              <a:t>The goal of this project is to </a:t>
            </a:r>
            <a:r>
              <a:rPr lang="en-US" b="1" dirty="0"/>
              <a:t>build a backend API</a:t>
            </a:r>
            <a:r>
              <a:rPr lang="en-US" dirty="0"/>
              <a:t> that stores and retrieves data efficiently, while exploring how AWS services integrate seamlessly in a </a:t>
            </a:r>
            <a:r>
              <a:rPr lang="en-US" b="1" dirty="0"/>
              <a:t>real-world cloud architecture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1026" name="Picture 2" descr="CRUD API using AWS API Gateway, Lambda ...">
            <a:extLst>
              <a:ext uri="{FF2B5EF4-FFF2-40B4-BE49-F238E27FC236}">
                <a16:creationId xmlns:a16="http://schemas.microsoft.com/office/drawing/2014/main" id="{00A6F90B-5FBC-ED7A-24BC-E1BFE43073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3359" y="3773713"/>
            <a:ext cx="8985242" cy="29330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4796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E0E7B-4C1C-AAD1-2CBA-A35B8209E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8841" y="546705"/>
            <a:ext cx="8534400" cy="770468"/>
          </a:xfr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dirty="0"/>
              <a:t>OBJECTIVE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F86C456-4D4C-701A-1BB6-7D8085DEC3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7456" y="2224625"/>
            <a:ext cx="11713029" cy="286232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design a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serverless architecture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that handles API requests and stores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 integration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between AWS Lambda, API Gateway, and DynamoDB.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deploy and test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functional backend on AWS Free Tier.</a:t>
            </a:r>
          </a:p>
        </p:txBody>
      </p:sp>
    </p:spTree>
    <p:extLst>
      <p:ext uri="{BB962C8B-B14F-4D97-AF65-F5344CB8AC3E}">
        <p14:creationId xmlns:p14="http://schemas.microsoft.com/office/powerpoint/2010/main" val="431494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059E-054C-D8BE-7D68-D5351ECEA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485" y="131291"/>
            <a:ext cx="10515600" cy="59494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br>
              <a:rPr lang="en-US" b="1" dirty="0"/>
            </a:br>
            <a:r>
              <a:rPr lang="en-US" b="1" dirty="0"/>
              <a:t>AWS SERVICES USED</a:t>
            </a:r>
            <a:br>
              <a:rPr lang="en-US" b="1" dirty="0"/>
            </a:br>
            <a:endParaRPr lang="en-US" b="1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C498EA1-4012-8C15-6AE4-241BDF8398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3656" y="1006098"/>
            <a:ext cx="5094516" cy="23100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37C98A-6918-A005-F3CA-EE9875A87A62}"/>
              </a:ext>
            </a:extLst>
          </p:cNvPr>
          <p:cNvSpPr txBox="1"/>
          <p:nvPr/>
        </p:nvSpPr>
        <p:spPr>
          <a:xfrm>
            <a:off x="5650287" y="1591118"/>
            <a:ext cx="199148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API GATEWAY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649FD9-59FE-607C-7255-594AD2DEB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658" y="2161146"/>
            <a:ext cx="5388427" cy="28641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A91FF2-B0F7-E1C4-A430-2429CD2DCA39}"/>
              </a:ext>
            </a:extLst>
          </p:cNvPr>
          <p:cNvSpPr txBox="1"/>
          <p:nvPr/>
        </p:nvSpPr>
        <p:spPr>
          <a:xfrm>
            <a:off x="5310700" y="3541807"/>
            <a:ext cx="113364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LAMBDA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16753B-7631-C3DA-EE36-CDA7D25EEA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1" y="4191001"/>
            <a:ext cx="6226628" cy="25291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E0A7B9C-07ED-5F10-C9E1-66BFB29F6838}"/>
              </a:ext>
            </a:extLst>
          </p:cNvPr>
          <p:cNvSpPr txBox="1"/>
          <p:nvPr/>
        </p:nvSpPr>
        <p:spPr>
          <a:xfrm>
            <a:off x="6640285" y="5594888"/>
            <a:ext cx="153118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DYNAMODB</a:t>
            </a:r>
          </a:p>
        </p:txBody>
      </p:sp>
    </p:spTree>
    <p:extLst>
      <p:ext uri="{BB962C8B-B14F-4D97-AF65-F5344CB8AC3E}">
        <p14:creationId xmlns:p14="http://schemas.microsoft.com/office/powerpoint/2010/main" val="75670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67223-3498-E3EC-6BE3-2BE4FADED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4942" y="484869"/>
            <a:ext cx="5290458" cy="65813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dirty="0"/>
              <a:t>Workflow Explanation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0D4AABC-3CB7-6105-13CE-B1DF2C658B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1004" y="1778000"/>
            <a:ext cx="10737716" cy="38459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998263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D12B5-324B-2481-5495-D4E7AF977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9742"/>
            <a:ext cx="10515600" cy="62547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/>
              <a:t>Implementation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7E5A9-7FA4-2F1D-683B-8C0228453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728" y="903514"/>
            <a:ext cx="11854543" cy="5660572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85000" lnSpcReduction="20000"/>
          </a:bodyPr>
          <a:lstStyle/>
          <a:p>
            <a:r>
              <a:rPr lang="en-US" b="1" dirty="0"/>
              <a:t>Step 1: IAM Role Creation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Created a custom </a:t>
            </a:r>
            <a:r>
              <a:rPr lang="en-US" b="1" dirty="0"/>
              <a:t>IAM role</a:t>
            </a:r>
            <a:r>
              <a:rPr lang="en-US" dirty="0"/>
              <a:t> with the required permissions for </a:t>
            </a:r>
            <a:r>
              <a:rPr lang="en-US" b="1" dirty="0"/>
              <a:t>Lambda</a:t>
            </a:r>
            <a:r>
              <a:rPr lang="en-US" dirty="0"/>
              <a:t> and </a:t>
            </a:r>
            <a:r>
              <a:rPr lang="en-US" b="1" dirty="0"/>
              <a:t>DynamoDB</a:t>
            </a:r>
            <a:r>
              <a:rPr lang="en-US" dirty="0"/>
              <a:t> access.</a:t>
            </a:r>
            <a:br>
              <a:rPr lang="en-US" dirty="0"/>
            </a:br>
            <a:r>
              <a:rPr lang="en-US" dirty="0"/>
              <a:t>This ensures secure and controlled access between AWS services.</a:t>
            </a:r>
          </a:p>
          <a:p>
            <a:pPr marL="0" indent="0">
              <a:buNone/>
            </a:pPr>
            <a:r>
              <a:rPr lang="en-US" dirty="0"/>
              <a:t>-----------------------------------------------------------------------------------------------------------------------------------------------------------------------</a:t>
            </a:r>
          </a:p>
          <a:p>
            <a:r>
              <a:rPr lang="en-US" b="1" dirty="0"/>
              <a:t>Step 2: Lambda Function Setup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Created a </a:t>
            </a:r>
            <a:r>
              <a:rPr lang="en-US" b="1" dirty="0"/>
              <a:t>Lambda function</a:t>
            </a:r>
            <a:r>
              <a:rPr lang="en-US" dirty="0"/>
              <a:t> and uploaded the </a:t>
            </a:r>
            <a:r>
              <a:rPr lang="en-US" b="1" dirty="0"/>
              <a:t>web application backend code</a:t>
            </a:r>
            <a:r>
              <a:rPr lang="en-US" dirty="0"/>
              <a:t> containing logic for handling requests (contact form and success page).</a:t>
            </a:r>
            <a:br>
              <a:rPr lang="en-US" dirty="0"/>
            </a:br>
            <a:r>
              <a:rPr lang="en-US" dirty="0"/>
              <a:t>Configured the Lambda function with the IAM role to enable data storage and retrieval in DynamoDB.</a:t>
            </a:r>
          </a:p>
          <a:p>
            <a:pPr marL="0" indent="0">
              <a:buNone/>
            </a:pPr>
            <a:r>
              <a:rPr lang="en-US" dirty="0"/>
              <a:t>-----------------------------------------------------------------------------------------------------------------------------------------------------------------------</a:t>
            </a:r>
          </a:p>
          <a:p>
            <a:r>
              <a:rPr lang="en-US" b="1" dirty="0"/>
              <a:t>Step 3: DynamoDB Table Creation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Set up a </a:t>
            </a:r>
            <a:r>
              <a:rPr lang="en-US" b="1" dirty="0"/>
              <a:t>DynamoDB table</a:t>
            </a:r>
            <a:r>
              <a:rPr lang="en-US" dirty="0"/>
              <a:t> to store user-submitted data from the web application.</a:t>
            </a:r>
            <a:br>
              <a:rPr lang="en-US" dirty="0"/>
            </a:br>
            <a:r>
              <a:rPr lang="en-US" dirty="0"/>
              <a:t>Defined a </a:t>
            </a:r>
            <a:r>
              <a:rPr lang="en-US" b="1" dirty="0"/>
              <a:t>primary key</a:t>
            </a:r>
            <a:r>
              <a:rPr lang="en-US" dirty="0"/>
              <a:t> for efficient record management.</a:t>
            </a:r>
          </a:p>
          <a:p>
            <a:pPr marL="0" indent="0">
              <a:buNone/>
            </a:pPr>
            <a:r>
              <a:rPr lang="en-US" dirty="0"/>
              <a:t>-----------------------------------------------------------------------------------------------------------------------------------------------------------------------</a:t>
            </a:r>
          </a:p>
          <a:p>
            <a:r>
              <a:rPr lang="en-US" b="1" dirty="0"/>
              <a:t>Step 4: API Gateway Configuration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Created a </a:t>
            </a:r>
            <a:r>
              <a:rPr lang="en-US" b="1" dirty="0"/>
              <a:t>REST API</a:t>
            </a:r>
            <a:r>
              <a:rPr lang="en-US" dirty="0"/>
              <a:t> in </a:t>
            </a:r>
            <a:r>
              <a:rPr lang="en-US" b="1" dirty="0"/>
              <a:t>API Gateway</a:t>
            </a:r>
            <a:r>
              <a:rPr lang="en-US" dirty="0"/>
              <a:t> and integrated it with the Lambda function.</a:t>
            </a:r>
            <a:br>
              <a:rPr lang="en-US" dirty="0"/>
            </a:br>
            <a:r>
              <a:rPr lang="en-US" dirty="0"/>
              <a:t>Added HTTP methods (GET, POST) to handle incoming requests.</a:t>
            </a:r>
            <a:br>
              <a:rPr lang="en-US" dirty="0"/>
            </a:br>
            <a:r>
              <a:rPr lang="en-US" dirty="0"/>
              <a:t>Deployed the API and generated the </a:t>
            </a:r>
            <a:r>
              <a:rPr lang="en-US" b="1" dirty="0"/>
              <a:t>Invoke URL</a:t>
            </a:r>
            <a:r>
              <a:rPr lang="en-US" dirty="0"/>
              <a:t> for testing.</a:t>
            </a:r>
          </a:p>
          <a:p>
            <a:pPr marL="0" indent="0">
              <a:buNone/>
            </a:pPr>
            <a:r>
              <a:rPr lang="en-US" dirty="0"/>
              <a:t>-----------------------------------------------------------------------------------------------------------------------------------------------------------------------</a:t>
            </a:r>
          </a:p>
          <a:p>
            <a:r>
              <a:rPr lang="en-US" b="1" dirty="0"/>
              <a:t>Step 5: Testing the Application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Tested the API endpoint using the </a:t>
            </a:r>
            <a:r>
              <a:rPr lang="en-US" b="1" dirty="0"/>
              <a:t>Invoke URL</a:t>
            </a:r>
            <a:r>
              <a:rPr lang="en-US" dirty="0"/>
              <a:t>, which successfully triggered the Lambda function and stored data in DynamoDB.</a:t>
            </a:r>
            <a:br>
              <a:rPr lang="en-US" dirty="0"/>
            </a:br>
            <a:r>
              <a:rPr lang="en-US" dirty="0"/>
              <a:t>Verified the output through both </a:t>
            </a:r>
            <a:r>
              <a:rPr lang="en-US" b="1" dirty="0"/>
              <a:t>API Gateway console</a:t>
            </a:r>
            <a:r>
              <a:rPr lang="en-US" dirty="0"/>
              <a:t> and </a:t>
            </a:r>
            <a:r>
              <a:rPr lang="en-US" b="1" dirty="0"/>
              <a:t>DynamoDB records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3224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2A9978F-47A7-DE07-FF3D-E1616F06B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471" y="83002"/>
            <a:ext cx="10091057" cy="77764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b="1" dirty="0"/>
              <a:t>Application Output and API Response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58666A-AB81-34DE-5268-905381617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325" y="1289723"/>
            <a:ext cx="9113749" cy="37917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05C715C-78D2-9CD9-4FEF-13953DD59B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948" t="41331" r="948" b="29977"/>
          <a:stretch>
            <a:fillRect/>
          </a:stretch>
        </p:blipFill>
        <p:spPr>
          <a:xfrm>
            <a:off x="368629" y="5347413"/>
            <a:ext cx="10845140" cy="1242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114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156A39E-5756-5836-6E7B-882F07302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344" y="1788940"/>
            <a:ext cx="8972683" cy="450057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AE3C78-DA09-E46F-91E3-F87CC7DA121B}"/>
              </a:ext>
            </a:extLst>
          </p:cNvPr>
          <p:cNvSpPr txBox="1"/>
          <p:nvPr/>
        </p:nvSpPr>
        <p:spPr>
          <a:xfrm>
            <a:off x="478971" y="568484"/>
            <a:ext cx="11049001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/>
              <a:t>Verified the output through both API Gateway console and DynamoDB records.</a:t>
            </a:r>
          </a:p>
        </p:txBody>
      </p:sp>
    </p:spTree>
    <p:extLst>
      <p:ext uri="{BB962C8B-B14F-4D97-AF65-F5344CB8AC3E}">
        <p14:creationId xmlns:p14="http://schemas.microsoft.com/office/powerpoint/2010/main" val="122280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F1A9C-A14F-8E7A-1D74-E4D6E2D28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502228"/>
            <a:ext cx="7729728" cy="2645229"/>
          </a:xfrm>
        </p:spPr>
        <p:txBody>
          <a:bodyPr>
            <a:normAutofit/>
          </a:bodyPr>
          <a:lstStyle/>
          <a:p>
            <a:r>
              <a:rPr lang="en-US" sz="6000" dirty="0"/>
              <a:t>LET’S SEE THE </a:t>
            </a:r>
            <a:br>
              <a:rPr lang="en-US" sz="6000" dirty="0"/>
            </a:br>
            <a:r>
              <a:rPr lang="en-US" sz="6000" dirty="0"/>
              <a:t>Live Demo  </a:t>
            </a:r>
            <a:endParaRPr lang="en-US" sz="6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1507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81483-39D3-E86E-59EC-E5467DC64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1507" y="2510463"/>
            <a:ext cx="7729728" cy="1188720"/>
          </a:xfrm>
        </p:spPr>
        <p:txBody>
          <a:bodyPr>
            <a:normAutofit fontScale="90000"/>
          </a:bodyPr>
          <a:lstStyle/>
          <a:p>
            <a:r>
              <a:rPr lang="en-US" sz="6600" dirty="0"/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72720843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42D3C2F-55A5-48C0-9D5A-95C7FF0389D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791575F-4C21-47C4-8D13-EB9BE66B536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792209EB-3212-4116-B574-D1F56C7C49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602</TotalTime>
  <Words>365</Words>
  <Application>Microsoft Office PowerPoint</Application>
  <PresentationFormat>Widescreen</PresentationFormat>
  <Paragraphs>34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Gill Sans MT</vt:lpstr>
      <vt:lpstr>Parcel</vt:lpstr>
      <vt:lpstr>SERVERLESS Web APPLICATION  WITH  LAMBDA, APIGATEWAY AND DYNAMODB</vt:lpstr>
      <vt:lpstr>INTRODUCTION</vt:lpstr>
      <vt:lpstr>OBJECTIVE</vt:lpstr>
      <vt:lpstr> AWS SERVICES USED </vt:lpstr>
      <vt:lpstr>Workflow Explanation</vt:lpstr>
      <vt:lpstr>Implementation Steps</vt:lpstr>
      <vt:lpstr>PowerPoint Presentation</vt:lpstr>
      <vt:lpstr>PowerPoint Presentation</vt:lpstr>
      <vt:lpstr>LET’S SEE THE  Live Demo  </vt:lpstr>
      <vt:lpstr>THANKYOU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ManjuAbhinaya VR</dc:creator>
  <cp:lastModifiedBy>ManjuAbhinaya VR</cp:lastModifiedBy>
  <cp:revision>7</cp:revision>
  <dcterms:created xsi:type="dcterms:W3CDTF">2025-10-31T12:40:08Z</dcterms:created>
  <dcterms:modified xsi:type="dcterms:W3CDTF">2026-03-04T06:15:07Z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